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381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381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381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381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381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381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0B172B"/>
          </a:solidFill>
        </a:fill>
      </a:tcStyle>
    </a:band2H>
    <a:firstCol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172B"/>
          </a:solidFill>
        </a:fill>
      </a:tcStyle>
    </a:lastRow>
    <a:fir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38100" cap="flat">
              <a:solidFill>
                <a:srgbClr val="0B172B"/>
              </a:solidFill>
              <a:prstDash val="solid"/>
              <a:round/>
            </a:ln>
          </a:top>
          <a:bottom>
            <a:ln w="127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0B172B"/>
        </a:fontRef>
        <a:srgbClr val="0B172B"/>
      </a:tcTxStyle>
      <a:tcStyle>
        <a:tcBdr>
          <a:left>
            <a:ln w="12700" cap="flat">
              <a:solidFill>
                <a:srgbClr val="0B172B"/>
              </a:solidFill>
              <a:prstDash val="solid"/>
              <a:round/>
            </a:ln>
          </a:left>
          <a:right>
            <a:ln w="12700" cap="flat">
              <a:solidFill>
                <a:srgbClr val="0B172B"/>
              </a:solidFill>
              <a:prstDash val="solid"/>
              <a:round/>
            </a:ln>
          </a:right>
          <a:top>
            <a:ln w="12700" cap="flat">
              <a:solidFill>
                <a:srgbClr val="0B172B"/>
              </a:solidFill>
              <a:prstDash val="solid"/>
              <a:round/>
            </a:ln>
          </a:top>
          <a:bottom>
            <a:ln w="38100" cap="flat">
              <a:solidFill>
                <a:srgbClr val="0B172B"/>
              </a:solidFill>
              <a:prstDash val="solid"/>
              <a:round/>
            </a:ln>
          </a:bottom>
          <a:insideH>
            <a:ln w="12700" cap="flat">
              <a:solidFill>
                <a:srgbClr val="0B172B"/>
              </a:solidFill>
              <a:prstDash val="solid"/>
              <a:round/>
            </a:ln>
          </a:insideH>
          <a:insideV>
            <a:ln w="12700" cap="flat">
              <a:solidFill>
                <a:srgbClr val="0B172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" name="Shape 3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authors of the 1995 paper are not listed in our report. The comparison concerns the reviewed papers, not an exhaustive claim about all literature.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0B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76875" y="6558991"/>
            <a:ext cx="1071845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2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76875" y="6558991"/>
            <a:ext cx="1071845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9877" y="6232199"/>
            <a:ext cx="258622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/>
        </p:nvSpPr>
        <p:spPr>
          <a:xfrm>
            <a:off x="558785" y="548958"/>
            <a:ext cx="665321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Introduction and Group Members</a:t>
            </a:r>
          </a:p>
        </p:txBody>
      </p:sp>
      <p:sp>
        <p:nvSpPr>
          <p:cNvPr id="37" name="Text 1"/>
          <p:cNvSpPr txBox="1"/>
          <p:nvPr/>
        </p:nvSpPr>
        <p:spPr>
          <a:xfrm>
            <a:off x="558785" y="1120251"/>
            <a:ext cx="8026201" cy="58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Volatility-Aware Dynamic Learning-Rate Control for LSTM Using a Fuzzy Controller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558785" y="1830983"/>
            <a:ext cx="671970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Next-Day Direction Prediction of the S&amp;P 500 Using a Hybrid Neuro-Fuzzy Approach.</a:t>
            </a:r>
          </a:p>
        </p:txBody>
      </p:sp>
      <p:sp>
        <p:nvSpPr>
          <p:cNvPr id="39" name="Shape 3"/>
          <p:cNvSpPr/>
          <p:nvPr/>
        </p:nvSpPr>
        <p:spPr>
          <a:xfrm>
            <a:off x="558784" y="2245616"/>
            <a:ext cx="8026202" cy="19053"/>
          </a:xfrm>
          <a:prstGeom prst="roundRect">
            <a:avLst>
              <a:gd name="adj" fmla="val 49999"/>
            </a:avLst>
          </a:prstGeom>
          <a:solidFill>
            <a:srgbClr val="3FD6C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4"/>
          <p:cNvSpPr txBox="1"/>
          <p:nvPr/>
        </p:nvSpPr>
        <p:spPr>
          <a:xfrm>
            <a:off x="558785" y="2412305"/>
            <a:ext cx="8026201" cy="1115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Financial markets are noisy and non-stationary; one fixed learning rate may not suit calm and highly volatile periods.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A fuzzy controller adjusts the LSTM learning rate from market volatility. The model predicts next-day direction: Up (1) or Down (0).</a:t>
            </a:r>
          </a:p>
        </p:txBody>
      </p:sp>
      <p:sp>
        <p:nvSpPr>
          <p:cNvPr id="41" name="Text 5"/>
          <p:cNvSpPr txBox="1"/>
          <p:nvPr/>
        </p:nvSpPr>
        <p:spPr>
          <a:xfrm>
            <a:off x="558784" y="5650307"/>
            <a:ext cx="3860707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Aditya (1523)</a:t>
            </a:r>
          </a:p>
          <a:p>
            <a: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Krishna (1548)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4724282" y="5650307"/>
            <a:ext cx="3860705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Ayush Kumar Jha (1573)</a:t>
            </a:r>
          </a:p>
          <a:p>
            <a: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Manish Mandia (1576)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591760" y="5292700"/>
            <a:ext cx="3364677" cy="350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pc="4" sz="11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Course: Soft Computing · Faculty: Dr. Poonam Rani</a:t>
            </a:r>
          </a:p>
        </p:txBody>
      </p:sp>
      <p:pic>
        <p:nvPicPr>
          <p:cNvPr id="44" name="Image 0" descr="Image 0">
            <a:extLst>
              <a:ext uri="{FF2B5EF4-FFF2-40B4-BE49-F238E27FC236}">
                <a16:creationId xmlns:a16="http://schemas.microsoft.com/office/drawing/2014/main" id="{DB3A0B72-B5F1-4670-A6D6-4BB728036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28179" y="0"/>
            <a:ext cx="3251121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558785" y="548958"/>
            <a:ext cx="1773429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Our Idea</a:t>
            </a:r>
          </a:p>
        </p:txBody>
      </p:sp>
      <p:sp>
        <p:nvSpPr>
          <p:cNvPr id="47" name="Text 1"/>
          <p:cNvSpPr txBox="1"/>
          <p:nvPr/>
        </p:nvSpPr>
        <p:spPr>
          <a:xfrm>
            <a:off x="558785" y="1199435"/>
            <a:ext cx="177705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2000">
                <a:solidFill>
                  <a:srgbClr val="5CB8FF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LSTM Predictor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558786" y="1653381"/>
            <a:ext cx="5156071" cy="47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1000"/>
              </a:lnSpc>
              <a:spcBef>
                <a:spcPts val="800"/>
              </a:spcBef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Learns temporal patterns from historical S&amp;P 500 data.</a:t>
            </a:r>
          </a:p>
          <a:p>
            <a: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Outputs the probability of an upward move.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6476838" y="1199435"/>
            <a:ext cx="253955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20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Fuzzy Logic Controller</a:t>
            </a:r>
          </a:p>
        </p:txBody>
      </p:sp>
      <p:sp>
        <p:nvSpPr>
          <p:cNvPr id="50" name="Text 4"/>
          <p:cNvSpPr txBox="1"/>
          <p:nvPr/>
        </p:nvSpPr>
        <p:spPr>
          <a:xfrm>
            <a:off x="6476838" y="1653381"/>
            <a:ext cx="5156071" cy="53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Takes market volatility and uses membership functions and IF-THEN rules to set the learning rate during training.</a:t>
            </a:r>
          </a:p>
        </p:txBody>
      </p:sp>
      <p:sp>
        <p:nvSpPr>
          <p:cNvPr id="51" name="Text 6"/>
          <p:cNvSpPr txBox="1"/>
          <p:nvPr/>
        </p:nvSpPr>
        <p:spPr>
          <a:xfrm>
            <a:off x="558785" y="3509407"/>
            <a:ext cx="11074125" cy="1173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905255">
              <a:lnSpc>
                <a:spcPct val="92000"/>
              </a:lnSpc>
              <a:defRPr spc="-100" sz="27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“The LSTM learns market patterns, while the fuzzy controller decides how aggressively the model should update its weights under different volatility conditions.”</a:t>
            </a:r>
          </a:p>
        </p:txBody>
      </p:sp>
      <p:sp>
        <p:nvSpPr>
          <p:cNvPr id="52" name="Text 7"/>
          <p:cNvSpPr txBox="1"/>
          <p:nvPr/>
        </p:nvSpPr>
        <p:spPr>
          <a:xfrm>
            <a:off x="558785" y="5267264"/>
            <a:ext cx="749647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pc="9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The controller changes training, not the model's prediction output directly.</a:t>
            </a:r>
          </a:p>
        </p:txBody>
      </p:sp>
      <p:sp>
        <p:nvSpPr>
          <p:cNvPr id="53" name="Shape 8"/>
          <p:cNvSpPr/>
          <p:nvPr/>
        </p:nvSpPr>
        <p:spPr>
          <a:xfrm>
            <a:off x="6089498" y="1194990"/>
            <a:ext cx="12702" cy="1100339"/>
          </a:xfrm>
          <a:prstGeom prst="rect">
            <a:avLst/>
          </a:prstGeom>
          <a:solidFill>
            <a:srgbClr val="5CB8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" name="Text 9"/>
          <p:cNvSpPr txBox="1"/>
          <p:nvPr/>
        </p:nvSpPr>
        <p:spPr>
          <a:xfrm>
            <a:off x="11625270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2 / 10</a:t>
            </a:r>
          </a:p>
        </p:txBody>
      </p:sp>
      <p:sp>
        <p:nvSpPr>
          <p:cNvPr id="55" name="Square"/>
          <p:cNvSpPr/>
          <p:nvPr/>
        </p:nvSpPr>
        <p:spPr>
          <a:xfrm>
            <a:off x="11061497" y="6161945"/>
            <a:ext cx="1270002" cy="1270003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 txBox="1"/>
          <p:nvPr/>
        </p:nvSpPr>
        <p:spPr>
          <a:xfrm>
            <a:off x="558784" y="548958"/>
            <a:ext cx="4290843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Phase-Wise Diagram</a:t>
            </a:r>
          </a:p>
        </p:txBody>
      </p:sp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8784" y="1175941"/>
            <a:ext cx="9895536" cy="506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1"/>
          <p:cNvSpPr txBox="1"/>
          <p:nvPr/>
        </p:nvSpPr>
        <p:spPr>
          <a:xfrm>
            <a:off x="11624672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3 / 10</a:t>
            </a:r>
          </a:p>
        </p:txBody>
      </p:sp>
      <p:sp>
        <p:nvSpPr>
          <p:cNvPr id="60" name="Square"/>
          <p:cNvSpPr/>
          <p:nvPr/>
        </p:nvSpPr>
        <p:spPr>
          <a:xfrm>
            <a:off x="10977795" y="5770919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 txBox="1"/>
          <p:nvPr/>
        </p:nvSpPr>
        <p:spPr>
          <a:xfrm>
            <a:off x="558784" y="548958"/>
            <a:ext cx="368434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Technology Stack </a:t>
            </a:r>
          </a:p>
        </p:txBody>
      </p:sp>
      <p:graphicFrame>
        <p:nvGraphicFramePr>
          <p:cNvPr id="63" name="Table 0"/>
          <p:cNvGraphicFramePr/>
          <p:nvPr/>
        </p:nvGraphicFramePr>
        <p:xfrm>
          <a:off x="558784" y="1194991"/>
          <a:ext cx="11074125" cy="42247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424151"/>
                <a:gridCol w="7192682"/>
                <a:gridCol w="152396"/>
                <a:gridCol w="152396"/>
                <a:gridCol w="152495"/>
              </a:tblGrid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Component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Technology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Data Acquisition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defRPr>
                      </a:pPr>
                      <a:r>
                        <a:t>yfinance</a:t>
                      </a:r>
                      <a:r>
                        <a:rPr>
                          <a:solidFill>
                            <a:srgbClr val="D6E0DC"/>
                          </a:solidFill>
                        </a:rPr>
                        <a:t> · retrieves market data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Data Processing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pandas, NumPy · process the data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Fuzzy Logic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defRPr>
                      </a:pPr>
                      <a:r>
                        <a:t>scikit-fuzzy</a:t>
                      </a:r>
                      <a:r>
                        <a:rPr>
                          <a:solidFill>
                            <a:srgbClr val="D6E0DC"/>
                          </a:solidFill>
                        </a:rPr>
                        <a:t> · implements the fuzzy controller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Neural Network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PyTorch · builds and trains the LSTM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Visualization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matplotlib, seaborn · plots and figures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035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Environment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Python 3.10+, Jupyter Notebook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" name="Text 1"/>
          <p:cNvSpPr txBox="1"/>
          <p:nvPr/>
        </p:nvSpPr>
        <p:spPr>
          <a:xfrm>
            <a:off x="558784" y="6161961"/>
            <a:ext cx="305616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pc="4" sz="11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Implementation runs on Google Colab with GPU.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11624078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4 / 10</a:t>
            </a:r>
          </a:p>
        </p:txBody>
      </p:sp>
      <p:sp>
        <p:nvSpPr>
          <p:cNvPr id="66" name="Square"/>
          <p:cNvSpPr/>
          <p:nvPr/>
        </p:nvSpPr>
        <p:spPr>
          <a:xfrm>
            <a:off x="10977795" y="5918198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507985" y="447358"/>
            <a:ext cx="5218093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Existing Research Papers</a:t>
            </a:r>
          </a:p>
        </p:txBody>
      </p:sp>
      <p:graphicFrame>
        <p:nvGraphicFramePr>
          <p:cNvPr id="69" name="Table 0"/>
          <p:cNvGraphicFramePr/>
          <p:nvPr/>
        </p:nvGraphicFramePr>
        <p:xfrm>
          <a:off x="507987" y="1093391"/>
          <a:ext cx="11175721" cy="459441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534482"/>
                <a:gridCol w="2387838"/>
                <a:gridCol w="2796014"/>
                <a:gridCol w="152396"/>
                <a:gridCol w="152396"/>
                <a:gridCol w="152595"/>
              </a:tblGrid>
              <a:tr h="4511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Paper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Short description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Relevance to our project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87469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Fischer and Krauss (2018), "Deep learning with long short-term memory networks for financial market predictions," European Journal of Operational Research, 270(2), 654–669.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LSTM prediction of directional movements.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Supports LSTM direction prediction; we add volatility-aware learning-rate control.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87469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Lin et al. (2022), "Forecasting the realized volatility of stock price index: A hybrid model integrating CEEMDAN and LSTM," Expert Systems with Applications, 206, 117736.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CEEMDAN and LSTM forecast realized volatility.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Volatility matters; we use it as a control signal, not the prediction target.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87469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Wang, Shao, and Jumahong (2023), "Fuzzy inference-based LSTM for long-term time series prediction," Scientific Reports, 13, 20359.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Integrates fuzzy inference with LSTM.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Our fuzzy controller sits outside the predictor and regulates training.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87469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"Guided neural network learning using a fuzzy controller" (1995), International Transactions in Operational Research, 2(3), 259–272.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Fuzzy-guided learning in simulated textile spinning.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Background for fuzzy learning-rate control; we apply it to market volatility.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4450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Hochreiter and Schmidhuber (1997), "Long short-term memory," Neural Computation, 9(8), 1735–1780.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Introduces LSTM for long-term dependencies.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Theoretical foundation of our predictor.</a:t>
                      </a:r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64008" marR="64008" marT="64008" marB="64008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Text 1"/>
          <p:cNvSpPr txBox="1"/>
          <p:nvPr/>
        </p:nvSpPr>
        <p:spPr>
          <a:xfrm>
            <a:off x="11623681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5 / 10</a:t>
            </a:r>
          </a:p>
        </p:txBody>
      </p:sp>
      <p:sp>
        <p:nvSpPr>
          <p:cNvPr id="71" name="Square"/>
          <p:cNvSpPr/>
          <p:nvPr/>
        </p:nvSpPr>
        <p:spPr>
          <a:xfrm>
            <a:off x="10977795" y="6052006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 txBox="1"/>
          <p:nvPr/>
        </p:nvSpPr>
        <p:spPr>
          <a:xfrm>
            <a:off x="558784" y="548958"/>
            <a:ext cx="918709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Research Gap and How We Are Addressing It</a:t>
            </a:r>
          </a:p>
        </p:txBody>
      </p:sp>
      <p:sp>
        <p:nvSpPr>
          <p:cNvPr id="76" name="Text 1"/>
          <p:cNvSpPr txBox="1"/>
          <p:nvPr/>
        </p:nvSpPr>
        <p:spPr>
          <a:xfrm>
            <a:off x="558785" y="1199435"/>
            <a:ext cx="205970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2000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Existing Research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558786" y="1653381"/>
            <a:ext cx="5156071" cy="170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1000"/>
              </a:lnSpc>
              <a:spcBef>
                <a:spcPts val="800"/>
              </a:spcBef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The reviewed papers cover LSTM financial prediction, volatility forecasting, fuzzy-LSTM integration, and fuzzy control of neural-network learning rates.</a:t>
            </a:r>
          </a:p>
          <a:p>
            <a: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Within these papers, we did not identify an approach using an external market-volatility signal to dynamically control an LSTM's learning rate during training.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6476838" y="1199435"/>
            <a:ext cx="158010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20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Our Approach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6476836" y="1694755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0" name="Text 5"/>
          <p:cNvSpPr txBox="1"/>
          <p:nvPr/>
        </p:nvSpPr>
        <p:spPr>
          <a:xfrm>
            <a:off x="6679934" y="1653381"/>
            <a:ext cx="241109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Collect S&amp;P 500 OHLCV data.</a:t>
            </a:r>
          </a:p>
        </p:txBody>
      </p:sp>
      <p:sp>
        <p:nvSpPr>
          <p:cNvPr id="81" name="Text 6"/>
          <p:cNvSpPr txBox="1"/>
          <p:nvPr/>
        </p:nvSpPr>
        <p:spPr>
          <a:xfrm>
            <a:off x="6476836" y="2114151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2" name="Text 7"/>
          <p:cNvSpPr txBox="1"/>
          <p:nvPr/>
        </p:nvSpPr>
        <p:spPr>
          <a:xfrm>
            <a:off x="6707416" y="2072777"/>
            <a:ext cx="36266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Calculate features and 14-day rolling volatility.</a:t>
            </a:r>
          </a:p>
        </p:txBody>
      </p:sp>
      <p:sp>
        <p:nvSpPr>
          <p:cNvPr id="83" name="Text 8"/>
          <p:cNvSpPr txBox="1"/>
          <p:nvPr/>
        </p:nvSpPr>
        <p:spPr>
          <a:xfrm>
            <a:off x="6476836" y="2533550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4" name="Text 9"/>
          <p:cNvSpPr txBox="1"/>
          <p:nvPr/>
        </p:nvSpPr>
        <p:spPr>
          <a:xfrm>
            <a:off x="6708309" y="2492175"/>
            <a:ext cx="410366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Classify volatility into Low, Medium, High fuzzy sets.</a:t>
            </a:r>
          </a:p>
        </p:txBody>
      </p:sp>
      <p:sp>
        <p:nvSpPr>
          <p:cNvPr id="85" name="Text 10"/>
          <p:cNvSpPr txBox="1"/>
          <p:nvPr/>
        </p:nvSpPr>
        <p:spPr>
          <a:xfrm>
            <a:off x="6476836" y="2952948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6" name="Text 11"/>
          <p:cNvSpPr txBox="1"/>
          <p:nvPr/>
        </p:nvSpPr>
        <p:spPr>
          <a:xfrm>
            <a:off x="6709202" y="2911574"/>
            <a:ext cx="377766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Apply interpretable IF-THEN learning-rate rules.</a:t>
            </a:r>
          </a:p>
        </p:txBody>
      </p:sp>
      <p:sp>
        <p:nvSpPr>
          <p:cNvPr id="87" name="Text 12"/>
          <p:cNvSpPr txBox="1"/>
          <p:nvPr/>
        </p:nvSpPr>
        <p:spPr>
          <a:xfrm>
            <a:off x="6476836" y="3372346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8" name="Text 13"/>
          <p:cNvSpPr txBox="1"/>
          <p:nvPr/>
        </p:nvSpPr>
        <p:spPr>
          <a:xfrm>
            <a:off x="6709995" y="3330971"/>
            <a:ext cx="359049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Integrate the learning rate into LSTM training.</a:t>
            </a:r>
          </a:p>
        </p:txBody>
      </p:sp>
      <p:sp>
        <p:nvSpPr>
          <p:cNvPr id="89" name="Text 14"/>
          <p:cNvSpPr txBox="1"/>
          <p:nvPr/>
        </p:nvSpPr>
        <p:spPr>
          <a:xfrm>
            <a:off x="6476836" y="3791744"/>
            <a:ext cx="127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400">
                <a:solidFill>
                  <a:srgbClr val="FF8A4C"/>
                </a:solidFill>
                <a:latin typeface="Mozilla Text SemiBold"/>
                <a:ea typeface="Mozilla Text SemiBold"/>
                <a:cs typeface="Mozilla Text SemiBold"/>
                <a:sym typeface="Mozilla Text Semi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0" name="Text 15"/>
          <p:cNvSpPr txBox="1"/>
          <p:nvPr/>
        </p:nvSpPr>
        <p:spPr>
          <a:xfrm>
            <a:off x="6710094" y="3750369"/>
            <a:ext cx="350133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Compare with a fixed-learning-rate baseline.</a:t>
            </a:r>
          </a:p>
        </p:txBody>
      </p:sp>
      <p:sp>
        <p:nvSpPr>
          <p:cNvPr id="91" name="Text 16"/>
          <p:cNvSpPr txBox="1"/>
          <p:nvPr/>
        </p:nvSpPr>
        <p:spPr>
          <a:xfrm>
            <a:off x="558785" y="6036964"/>
            <a:ext cx="789705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7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Volatility controls training behaviour rather than directly predicting market direction.</a:t>
            </a:r>
          </a:p>
        </p:txBody>
      </p:sp>
      <p:sp>
        <p:nvSpPr>
          <p:cNvPr id="92" name="Shape 17"/>
          <p:cNvSpPr/>
          <p:nvPr/>
        </p:nvSpPr>
        <p:spPr>
          <a:xfrm>
            <a:off x="6089498" y="1194991"/>
            <a:ext cx="12702" cy="2822377"/>
          </a:xfrm>
          <a:prstGeom prst="rect">
            <a:avLst/>
          </a:prstGeom>
          <a:solidFill>
            <a:srgbClr val="3E555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Text 18"/>
          <p:cNvSpPr txBox="1"/>
          <p:nvPr/>
        </p:nvSpPr>
        <p:spPr>
          <a:xfrm>
            <a:off x="11623484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6 / 10</a:t>
            </a:r>
          </a:p>
        </p:txBody>
      </p:sp>
      <p:sp>
        <p:nvSpPr>
          <p:cNvPr id="94" name="Square"/>
          <p:cNvSpPr/>
          <p:nvPr/>
        </p:nvSpPr>
        <p:spPr>
          <a:xfrm>
            <a:off x="10977795" y="6368960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558784" y="543559"/>
            <a:ext cx="316178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4" sz="28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Technical Approach 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558784" y="1068665"/>
            <a:ext cx="337237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2000"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System Architecture Diagram 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11634000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7 / 10</a:t>
            </a:r>
          </a:p>
        </p:txBody>
      </p:sp>
      <p:sp>
        <p:nvSpPr>
          <p:cNvPr id="99" name="Square">
            <a:extLst>
              <a:ext uri="{FF2B5EF4-FFF2-40B4-BE49-F238E27FC236}">
                <a16:creationId xmlns:a16="http://schemas.microsoft.com/office/drawing/2014/main" id="{17F20508-4D73-4E2B-8586-831603C18B72}"/>
              </a:ext>
            </a:extLst>
          </p:cNvPr>
          <p:cNvSpPr/>
          <p:nvPr/>
        </p:nvSpPr>
        <p:spPr>
          <a:xfrm>
            <a:off x="10998999" y="6457949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pic>
        <p:nvPicPr>
          <p:cNvPr id="104" name="Picture 104">
            <a:extLst>
              <a:ext uri="{FF2B5EF4-FFF2-40B4-BE49-F238E27FC236}">
                <a16:creationId xmlns:a16="http://schemas.microsoft.com/office/drawing/2014/main" id="{ADD8CA3F-B96E-44A8-BFC2-338FD31DA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31554" y="698230"/>
            <a:ext cx="7502446" cy="546154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09584" y="358165"/>
            <a:ext cx="164093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1" sz="21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Flow Diagram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11622491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8 / 10</a:t>
            </a:r>
          </a:p>
        </p:txBody>
      </p:sp>
      <p:sp>
        <p:nvSpPr>
          <p:cNvPr id="106" name="Square"/>
          <p:cNvSpPr/>
          <p:nvPr/>
        </p:nvSpPr>
        <p:spPr>
          <a:xfrm>
            <a:off x="10871504" y="6052006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7" name="Square"/>
          <p:cNvSpPr/>
          <p:nvPr/>
        </p:nvSpPr>
        <p:spPr>
          <a:xfrm>
            <a:off x="10977795" y="5918198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grpSp>
        <p:nvGrpSpPr>
          <p:cNvPr id="110" name="Image Gallery">
            <a:extLst>
              <a:ext uri="{FF2B5EF4-FFF2-40B4-BE49-F238E27FC236}">
                <a16:creationId xmlns:a16="http://schemas.microsoft.com/office/drawing/2014/main" id="{9065DBCA-D85F-4E8F-A25D-121F0E4C6F39}"/>
              </a:ext>
            </a:extLst>
          </p:cNvPr>
          <p:cNvGrpSpPr/>
          <p:nvPr/>
        </p:nvGrpSpPr>
        <p:grpSpPr>
          <a:xfrm>
            <a:off x="1079690" y="1041644"/>
            <a:ext cx="9256605" cy="5336207"/>
            <a:chOff x="0" y="0"/>
            <a:chExt cx="7423335" cy="4587068"/>
          </a:xfrm>
        </p:grpSpPr>
        <p:pic>
          <p:nvPicPr>
            <p:cNvPr id="108" name="Gemini_Generated_Image_oj8bjwoj8bjwoj8b.png" descr="Gemini_Generated_Image_oj8bjwoj8bjwoj8b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319" r="0" b="319"/>
            <a:stretch>
              <a:fillRect/>
            </a:stretch>
          </p:blipFill>
          <p:spPr>
            <a:xfrm>
              <a:off x="0" y="0"/>
              <a:ext cx="7423336" cy="4116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Caption"/>
            <p:cNvSpPr/>
            <p:nvPr/>
          </p:nvSpPr>
          <p:spPr>
            <a:xfrm>
              <a:off x="0" y="4193021"/>
              <a:ext cx="7423336" cy="394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pPr/>
              <a:r>
                <a:t>Caption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/>
        </p:nvSpPr>
        <p:spPr>
          <a:xfrm>
            <a:off x="507985" y="345756"/>
            <a:ext cx="2872693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Phases (till 4) </a:t>
            </a:r>
          </a:p>
        </p:txBody>
      </p:sp>
      <p:sp>
        <p:nvSpPr>
          <p:cNvPr id="113" name="Text 1"/>
          <p:cNvSpPr txBox="1"/>
          <p:nvPr/>
        </p:nvSpPr>
        <p:spPr>
          <a:xfrm>
            <a:off x="507986" y="1220391"/>
            <a:ext cx="9447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20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114" name="Shape 2"/>
          <p:cNvSpPr/>
          <p:nvPr/>
        </p:nvSpPr>
        <p:spPr>
          <a:xfrm>
            <a:off x="507987" y="1546372"/>
            <a:ext cx="2565239" cy="12702"/>
          </a:xfrm>
          <a:prstGeom prst="rect">
            <a:avLst/>
          </a:prstGeom>
          <a:solidFill>
            <a:srgbClr val="3E555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3"/>
          <p:cNvSpPr txBox="1"/>
          <p:nvPr/>
        </p:nvSpPr>
        <p:spPr>
          <a:xfrm>
            <a:off x="507986" y="1673743"/>
            <a:ext cx="2565338" cy="601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Reproducibility and Setup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507986" y="2402780"/>
            <a:ext cx="2565338" cy="1697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Fixed Python, NumPy, PyTorch seeds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1 Jan 2015 to 31 Dec 2025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Two builds gave identical checksums</a:t>
            </a:r>
          </a:p>
        </p:txBody>
      </p:sp>
      <p:sp>
        <p:nvSpPr>
          <p:cNvPr id="117" name="Text 5"/>
          <p:cNvSpPr txBox="1"/>
          <p:nvPr/>
        </p:nvSpPr>
        <p:spPr>
          <a:xfrm>
            <a:off x="507985" y="6057601"/>
            <a:ext cx="73084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T1 PASS</a:t>
            </a:r>
          </a:p>
        </p:txBody>
      </p:sp>
      <p:sp>
        <p:nvSpPr>
          <p:cNvPr id="118" name="Text 6"/>
          <p:cNvSpPr txBox="1"/>
          <p:nvPr/>
        </p:nvSpPr>
        <p:spPr>
          <a:xfrm>
            <a:off x="3378115" y="1220391"/>
            <a:ext cx="9447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20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119" name="Shape 7"/>
          <p:cNvSpPr/>
          <p:nvPr/>
        </p:nvSpPr>
        <p:spPr>
          <a:xfrm>
            <a:off x="3378115" y="1546372"/>
            <a:ext cx="2565239" cy="12702"/>
          </a:xfrm>
          <a:prstGeom prst="rect">
            <a:avLst/>
          </a:prstGeom>
          <a:solidFill>
            <a:srgbClr val="3E555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Text 8"/>
          <p:cNvSpPr txBox="1"/>
          <p:nvPr/>
        </p:nvSpPr>
        <p:spPr>
          <a:xfrm>
            <a:off x="3378115" y="1673743"/>
            <a:ext cx="209689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Features and Labels</a:t>
            </a:r>
          </a:p>
        </p:txBody>
      </p:sp>
      <p:sp>
        <p:nvSpPr>
          <p:cNvPr id="121" name="Text 9"/>
          <p:cNvSpPr txBox="1"/>
          <p:nvPr/>
        </p:nvSpPr>
        <p:spPr>
          <a:xfrm>
            <a:off x="3378115" y="2102048"/>
            <a:ext cx="2565338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return_1d, hl_range, oc_ret, vol_chg, volatility_14d</a:t>
            </a:r>
          </a:p>
        </p:txBody>
      </p:sp>
      <p:sp>
        <p:nvSpPr>
          <p:cNvPr id="122" name="Text 10"/>
          <p:cNvSpPr txBox="1"/>
          <p:nvPr/>
        </p:nvSpPr>
        <p:spPr>
          <a:xfrm>
            <a:off x="3378115" y="2670373"/>
            <a:ext cx="2565338" cy="848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Next-day Up/Down labels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Feature validity and label alignment checked</a:t>
            </a:r>
          </a:p>
        </p:txBody>
      </p:sp>
      <p:sp>
        <p:nvSpPr>
          <p:cNvPr id="123" name="Text 11"/>
          <p:cNvSpPr txBox="1"/>
          <p:nvPr/>
        </p:nvSpPr>
        <p:spPr>
          <a:xfrm>
            <a:off x="3378115" y="6057601"/>
            <a:ext cx="73084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T2 PASS</a:t>
            </a:r>
          </a:p>
        </p:txBody>
      </p:sp>
      <p:sp>
        <p:nvSpPr>
          <p:cNvPr id="124" name="Text 12"/>
          <p:cNvSpPr txBox="1"/>
          <p:nvPr/>
        </p:nvSpPr>
        <p:spPr>
          <a:xfrm>
            <a:off x="6248243" y="1220391"/>
            <a:ext cx="9447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20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125" name="Shape 13"/>
          <p:cNvSpPr/>
          <p:nvPr/>
        </p:nvSpPr>
        <p:spPr>
          <a:xfrm>
            <a:off x="6248243" y="1546372"/>
            <a:ext cx="2565239" cy="12702"/>
          </a:xfrm>
          <a:prstGeom prst="rect">
            <a:avLst/>
          </a:prstGeom>
          <a:solidFill>
            <a:srgbClr val="3E555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Text 14"/>
          <p:cNvSpPr txBox="1"/>
          <p:nvPr/>
        </p:nvSpPr>
        <p:spPr>
          <a:xfrm>
            <a:off x="6248243" y="1673743"/>
            <a:ext cx="2565338" cy="601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Scope, Split, and Windows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6248243" y="2402780"/>
            <a:ext cx="2565338" cy="20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S&amp;P 500 (^GSPC)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Chronological 70/15/15 split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Scaling fitted on training data only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60-day windows, 5 features</a:t>
            </a:r>
          </a:p>
        </p:txBody>
      </p:sp>
      <p:sp>
        <p:nvSpPr>
          <p:cNvPr id="128" name="Text 16"/>
          <p:cNvSpPr txBox="1"/>
          <p:nvPr/>
        </p:nvSpPr>
        <p:spPr>
          <a:xfrm>
            <a:off x="6248243" y="4522589"/>
            <a:ext cx="2565338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1,863 train · 352 validation · 353 test</a:t>
            </a:r>
          </a:p>
        </p:txBody>
      </p:sp>
      <p:sp>
        <p:nvSpPr>
          <p:cNvPr id="129" name="Text 17"/>
          <p:cNvSpPr txBox="1"/>
          <p:nvPr/>
        </p:nvSpPr>
        <p:spPr>
          <a:xfrm>
            <a:off x="6248243" y="6057601"/>
            <a:ext cx="73084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T3 PASS</a:t>
            </a:r>
          </a:p>
        </p:txBody>
      </p:sp>
      <p:sp>
        <p:nvSpPr>
          <p:cNvPr id="130" name="Shape 18"/>
          <p:cNvSpPr/>
          <p:nvPr/>
        </p:nvSpPr>
        <p:spPr>
          <a:xfrm>
            <a:off x="9118372" y="991790"/>
            <a:ext cx="2565338" cy="556141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Text 19"/>
          <p:cNvSpPr txBox="1"/>
          <p:nvPr/>
        </p:nvSpPr>
        <p:spPr>
          <a:xfrm>
            <a:off x="9296165" y="1169591"/>
            <a:ext cx="94473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2000">
                <a:solidFill>
                  <a:srgbClr val="9DB0AB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132" name="Shape 20"/>
          <p:cNvSpPr/>
          <p:nvPr/>
        </p:nvSpPr>
        <p:spPr>
          <a:xfrm>
            <a:off x="9118372" y="1495572"/>
            <a:ext cx="2565239" cy="12702"/>
          </a:xfrm>
          <a:prstGeom prst="rect">
            <a:avLst/>
          </a:prstGeom>
          <a:solidFill>
            <a:srgbClr val="3E555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Text 21"/>
          <p:cNvSpPr txBox="1"/>
          <p:nvPr/>
        </p:nvSpPr>
        <p:spPr>
          <a:xfrm>
            <a:off x="9296165" y="1622945"/>
            <a:ext cx="16768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Fuzzy Controller</a:t>
            </a:r>
          </a:p>
        </p:txBody>
      </p:sp>
      <p:sp>
        <p:nvSpPr>
          <p:cNvPr id="134" name="Text 22"/>
          <p:cNvSpPr txBox="1"/>
          <p:nvPr/>
        </p:nvSpPr>
        <p:spPr>
          <a:xfrm>
            <a:off x="9296165" y="2051248"/>
            <a:ext cx="2209747" cy="307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Low/Medium/High membership functions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Low volatility → higher LR; high → lower LR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Membership-weighted rule outputs</a:t>
            </a:r>
          </a:p>
          <a:p>
            <a:pPr marL="294640" indent="-294640">
              <a:lnSpc>
                <a:spcPct val="121000"/>
              </a:lnSpc>
              <a:buSzPct val="100000"/>
              <a:buChar char="•"/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pPr>
            <a:r>
              <a:t>201-point LR lookup curve</a:t>
            </a:r>
          </a:p>
        </p:txBody>
      </p:sp>
      <p:sp>
        <p:nvSpPr>
          <p:cNvPr id="135" name="Text 23"/>
          <p:cNvSpPr txBox="1"/>
          <p:nvPr/>
        </p:nvSpPr>
        <p:spPr>
          <a:xfrm>
            <a:off x="9296165" y="5239048"/>
            <a:ext cx="2209747" cy="690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Smoothness, monotonicity and fairness vs fixed baseline verified.</a:t>
            </a:r>
          </a:p>
        </p:txBody>
      </p:sp>
      <p:sp>
        <p:nvSpPr>
          <p:cNvPr id="136" name="Text 24"/>
          <p:cNvSpPr txBox="1"/>
          <p:nvPr/>
        </p:nvSpPr>
        <p:spPr>
          <a:xfrm>
            <a:off x="9296165" y="6108401"/>
            <a:ext cx="73084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400">
                <a:solidFill>
                  <a:srgbClr val="3FD6C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T4 PASS</a:t>
            </a:r>
          </a:p>
        </p:txBody>
      </p:sp>
      <p:sp>
        <p:nvSpPr>
          <p:cNvPr id="137" name="Text 25"/>
          <p:cNvSpPr txBox="1"/>
          <p:nvPr/>
        </p:nvSpPr>
        <p:spPr>
          <a:xfrm>
            <a:off x="11623484" y="6457949"/>
            <a:ext cx="349470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9 / 10</a:t>
            </a:r>
          </a:p>
        </p:txBody>
      </p:sp>
      <p:sp>
        <p:nvSpPr>
          <p:cNvPr id="138" name="Square"/>
          <p:cNvSpPr/>
          <p:nvPr/>
        </p:nvSpPr>
        <p:spPr>
          <a:xfrm>
            <a:off x="10977795" y="6426463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507985" y="345756"/>
            <a:ext cx="393360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2000"/>
              </a:lnSpc>
              <a:defRPr spc="-18" sz="3600">
                <a:solidFill>
                  <a:srgbClr val="F1F5F2"/>
                </a:solidFill>
                <a:latin typeface="Ledger"/>
                <a:ea typeface="Ledger"/>
                <a:cs typeface="Ledger"/>
                <a:sym typeface="Ledger"/>
              </a:defRPr>
            </a:lvl1pPr>
          </a:lstStyle>
          <a:p>
            <a:pPr/>
            <a:r>
              <a:t>Intermediate Result</a:t>
            </a:r>
          </a:p>
        </p:txBody>
      </p:sp>
      <p:sp>
        <p:nvSpPr>
          <p:cNvPr id="141" name="Text 1"/>
          <p:cNvSpPr txBox="1"/>
          <p:nvPr/>
        </p:nvSpPr>
        <p:spPr>
          <a:xfrm>
            <a:off x="507985" y="991791"/>
            <a:ext cx="11175724" cy="53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4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Completed results validate data preparation and the fuzzy controller only. Better direction accuracy and lower final training loss remain for evaluation in Phases 5–8.</a:t>
            </a:r>
          </a:p>
        </p:txBody>
      </p:sp>
      <p:sp>
        <p:nvSpPr>
          <p:cNvPr id="142" name="Text 2"/>
          <p:cNvSpPr txBox="1"/>
          <p:nvPr/>
        </p:nvSpPr>
        <p:spPr>
          <a:xfrm>
            <a:off x="507986" y="1696665"/>
            <a:ext cx="315115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A. Dataset Preparation Results</a:t>
            </a:r>
          </a:p>
        </p:txBody>
      </p:sp>
      <p:graphicFrame>
        <p:nvGraphicFramePr>
          <p:cNvPr id="143" name="Table 0"/>
          <p:cNvGraphicFramePr/>
          <p:nvPr/>
        </p:nvGraphicFramePr>
        <p:xfrm>
          <a:off x="507987" y="2124966"/>
          <a:ext cx="5359266" cy="380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65227"/>
                <a:gridCol w="2894039"/>
              </a:tblGrid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Criterion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Result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4192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Reproducibility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 · identical checksum 202000.3771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Features and labels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Training windows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1,863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Validation windows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352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Test windows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353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Window dimensions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60 days × 5 features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9089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Up-day fraction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defRPr>
                      </a:pPr>
                      <a:r>
                        <a:t>Train 54.1%</a:t>
                      </a:r>
                    </a:p>
                    <a:p>
                      <a:pPr algn="l">
                        <a:def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defRPr>
                      </a:pPr>
                      <a:r>
                        <a:t>Validation 53.4%</a:t>
                      </a:r>
                    </a:p>
                    <a:p>
                      <a:pPr algn="l">
                        <a:def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defRPr>
                      </a:pPr>
                      <a:r>
                        <a:t>Test 57.8%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4" name="Text 3"/>
          <p:cNvSpPr txBox="1"/>
          <p:nvPr/>
        </p:nvSpPr>
        <p:spPr>
          <a:xfrm>
            <a:off x="507987" y="6033492"/>
            <a:ext cx="5359266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The test set has more Up days than training. Always-Up would score 57.8%, so accuracy alone is insufficient.</a:t>
            </a:r>
          </a:p>
        </p:txBody>
      </p:sp>
      <p:sp>
        <p:nvSpPr>
          <p:cNvPr id="145" name="Text 4"/>
          <p:cNvSpPr txBox="1"/>
          <p:nvPr/>
        </p:nvSpPr>
        <p:spPr>
          <a:xfrm>
            <a:off x="6324441" y="1696665"/>
            <a:ext cx="278213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>
                <a:solidFill>
                  <a:srgbClr val="F1F5F2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B. Fuzzy Controller Results</a:t>
            </a:r>
          </a:p>
        </p:txBody>
      </p:sp>
      <p:graphicFrame>
        <p:nvGraphicFramePr>
          <p:cNvPr id="146" name="Table 1"/>
          <p:cNvGraphicFramePr/>
          <p:nvPr/>
        </p:nvGraphicFramePr>
        <p:xfrm>
          <a:off x="6324441" y="2124966"/>
          <a:ext cx="5359268" cy="251662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2107"/>
                <a:gridCol w="2572380"/>
                <a:gridCol w="964779"/>
              </a:tblGrid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Criterion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Measured result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9DB0AB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Status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0B172B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Maximum LR step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1.79  X   10^-5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Mean fuzzy LR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9.63 X  10^-4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Fixed baseline LR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1.00 X  10^-3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64192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Monotonicity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Higher volatility never gives a higher LR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3E5553"/>
                      </a:solidFill>
                    </a:lnB>
                    <a:noFill/>
                  </a:tcPr>
                </a:tc>
              </a:tr>
              <a:tr h="3749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LR range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E0DC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0.4  X  10^-3 to 1.5 X 10^-3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FD6C2"/>
                          </a:solidFill>
                          <a:latin typeface="Mozilla Text"/>
                          <a:ea typeface="Mozilla Text"/>
                          <a:cs typeface="Mozilla Text"/>
                          <a:sym typeface="Mozilla Text"/>
                        </a:rPr>
                        <a:t>PASS</a:t>
                      </a:r>
                    </a:p>
                  </a:txBody>
                  <a:tcPr marL="50799" marR="50799" marT="50799" marB="50799" anchor="ctr" anchorCtr="0" horzOverflow="overflow">
                    <a:lnL w="12700">
                      <a:solidFill>
                        <a:srgbClr val="0B172B"/>
                      </a:solidFill>
                    </a:lnL>
                    <a:lnR w="12700">
                      <a:solidFill>
                        <a:srgbClr val="0B172B"/>
                      </a:solidFill>
                    </a:lnR>
                    <a:lnT w="12700">
                      <a:solidFill>
                        <a:srgbClr val="3E5553"/>
                      </a:solidFill>
                    </a:lnT>
                    <a:lnB w="12700">
                      <a:solidFill>
                        <a:srgbClr val="0B172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7" name="Text 5"/>
          <p:cNvSpPr txBox="1"/>
          <p:nvPr/>
        </p:nvSpPr>
        <p:spPr>
          <a:xfrm>
            <a:off x="6324441" y="4749601"/>
            <a:ext cx="5359268" cy="46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1000"/>
              </a:lnSpc>
              <a:defRPr sz="12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Mean fuzzy LR is within 20% of the baseline; the mapping is smooth and monotonically decreasing.</a:t>
            </a:r>
          </a:p>
        </p:txBody>
      </p:sp>
      <p:sp>
        <p:nvSpPr>
          <p:cNvPr id="148" name="Text 6"/>
          <p:cNvSpPr txBox="1"/>
          <p:nvPr/>
        </p:nvSpPr>
        <p:spPr>
          <a:xfrm>
            <a:off x="11566036" y="6457949"/>
            <a:ext cx="413039" cy="190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>
            <a:lvl1pPr>
              <a:lnSpc>
                <a:spcPct val="121000"/>
              </a:lnSpc>
              <a:defRPr sz="900">
                <a:solidFill>
                  <a:srgbClr val="D6E0DC"/>
                </a:solidFill>
                <a:latin typeface="Mozilla Text"/>
                <a:ea typeface="Mozilla Text"/>
                <a:cs typeface="Mozilla Text"/>
                <a:sym typeface="Mozilla Text"/>
              </a:defRPr>
            </a:lvl1pPr>
          </a:lstStyle>
          <a:p>
            <a:pPr/>
            <a:r>
              <a:t>10 / 10</a:t>
            </a:r>
          </a:p>
        </p:txBody>
      </p:sp>
      <p:sp>
        <p:nvSpPr>
          <p:cNvPr id="149" name="Square"/>
          <p:cNvSpPr/>
          <p:nvPr/>
        </p:nvSpPr>
        <p:spPr>
          <a:xfrm>
            <a:off x="10860005" y="5828424"/>
            <a:ext cx="1270002" cy="1270002"/>
          </a:xfrm>
          <a:prstGeom prst="rect">
            <a:avLst/>
          </a:prstGeom>
          <a:solidFill>
            <a:srgbClr val="13282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B172B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172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172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