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INTRODUCTION  ·  GROUP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315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F3864"/>
                </a:solidFill>
                <a:latin typeface="Calibri"/>
              </a:rPr>
              <a:t>Volatility-Aware Dynamic Learning-Rate Control for LSTM Using a Fuzzy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64748B"/>
                </a:solidFill>
                <a:latin typeface="Calibri"/>
              </a:rPr>
              <a:t>Next-day direction prediction of the S&amp;P 500 with a hybrid neuro-fuzzy approach.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54680"/>
            <a:ext cx="1005840" cy="508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7315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Financial markets are noisy and non-stationary; one fixed learning rate may not suit calm and highly volatile periods.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A fuzzy controller adjusts the LSTM learning rate from market volatility. The model predicts next-day direction: Up (1) or Down (0).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BF45734-E9C5-4538-B21D-F6BD78995CA5}"/>
              </a:ext>
            </a:extLst>
          </p:cNvPr>
          <p:cNvSpPr/>
          <p:nvPr/>
        </p:nvSpPr>
        <p:spPr>
          <a:xfrm>
            <a:off x="448523" y="4892040"/>
            <a:ext cx="7855900" cy="823459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A04C75-D303-473B-AFBA-6BDB55164CD5}"/>
              </a:ext>
            </a:extLst>
          </p:cNvPr>
          <p:cNvSpPr txBox="1"/>
          <p:nvPr/>
        </p:nvSpPr>
        <p:spPr>
          <a:xfrm>
            <a:off x="548640" y="5120890"/>
            <a:ext cx="78559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Aditya (1523)   ·   Krishna (1548)   </a:t>
            </a:r>
            <a:r>
              <a:rPr sz="1600" b="1" i="0">
                <a:solidFill>
                  <a:srgbClr val="1F3864"/>
                </a:solidFill>
                <a:latin typeface="Calibri"/>
              </a:rPr>
              <a:t>·   Ayush Kumar Jha (1573)   ·   Manish Mandia (1576)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064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Course: Soft Computing   ·   Faculty: Dr. Poonam Rani</a:t>
            </a:r>
          </a:p>
        </p:txBody>
      </p:sp>
      <p:pic>
        <p:nvPicPr>
          <p:cNvPr id="12" name="Picture 11" descr="s1_8.jpg">
            <a:extLst>
              <a:ext uri="{FF2B5EF4-FFF2-40B4-BE49-F238E27FC236}">
                <a16:creationId xmlns:a16="http://schemas.microsoft.com/office/drawing/2014/main" id="{BDC612EA-4AEB-4603-9538-1CEC42C703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94"/>
          <a:stretch>
            <a:fillRect/>
          </a:stretch>
        </p:blipFill>
        <p:spPr>
          <a:xfrm>
            <a:off x="8945878" y="0"/>
            <a:ext cx="3245817" cy="685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Fuzzy-Controlled LSTM  ·  Soft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</a:rPr>
              <a:t>Our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005840" cy="508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440680" cy="2651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LSTM 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4937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Learns temporal patterns from historical S&amp;P 500 data.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Outputs the probability of an upward move.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40680" cy="2651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4630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5E2E"/>
                </a:solidFill>
                <a:latin typeface="Calibri"/>
              </a:rPr>
              <a:t>Fuzzy Logic 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65960"/>
            <a:ext cx="4937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Takes market volatility and uses membership functions and IF–THEN rules to set the learning rate during training.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11091672" cy="123444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79392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1F3864"/>
                </a:solidFill>
                <a:latin typeface="Calibri"/>
              </a:rPr>
              <a:t>“The LSTM learns market patterns, while the fuzzy controller decides how aggressively the model should update its weights under different volatility conditions.”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3212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4748B"/>
                </a:solidFill>
                <a:latin typeface="Calibri"/>
              </a:rPr>
              <a:t>The controller changes training, not the model's prediction output directly.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Fuzzy-Controlled LSTM  ·  Soft Computing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</a:rPr>
              <a:t>Phase-Wise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005840" cy="508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Fuzzy-Controlled LSTM  ·  Soft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3 / 10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989A2A1D-561F-4918-98DF-5AB13D0CDEAE}"/>
              </a:ext>
            </a:extLst>
          </p:cNvPr>
          <p:cNvPicPr/>
          <p:nvPr/>
        </p:nvPicPr>
        <p:blipFill>
          <a:blip r:embed="rId3"/>
          <a:srcRect t="12091" b="13235"/>
          <a:stretch>
            <a:fillRect/>
          </a:stretch>
        </p:blipFill>
        <p:spPr>
          <a:xfrm>
            <a:off x="1554480" y="1549699"/>
            <a:ext cx="8861170" cy="43529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005840" cy="508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129586-676F-43B9-A925-E7C36E7FC6E0}"/>
              </a:ext>
            </a:extLst>
          </p:cNvPr>
          <p:cNvGraphicFramePr>
            <a:graphicFrameLocks noGrp="1"/>
          </p:cNvGraphicFramePr>
          <p:nvPr/>
        </p:nvGraphicFramePr>
        <p:xfrm>
          <a:off x="548640" y="1234440"/>
          <a:ext cx="11091672" cy="396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65592"/>
              </a:tblGrid>
              <a:tr h="5658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5658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Data Acquisition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yfinance · retrieves market data (auto_adjust=True)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58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Data Processing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pandas, NumPy · feature engineering, scaling, windows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5658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Fuzzy Logic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scikit-fuzzy · Mamdani FIS cross-check; NumPy lookup in training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58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Neural Network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PyTorch · builds and trains the LSTM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5658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Visualization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matplotlib · plots and figures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587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Environment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Python 3.10+ · run_all.py pipeline (main.py runner)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4748B"/>
                </a:solidFill>
                <a:latin typeface="Calibri"/>
              </a:rPr>
              <a:t>Batch download (—chunked, per-ticker), stationary features only, scaler fit on training split.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Fuzzy-Controlled LSTM  ·  Soft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</a:rPr>
              <a:t>Existing Research Papers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005840" cy="508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16AD4A-C2F0-435C-80FD-E863B3688FA2}"/>
              </a:ext>
            </a:extLst>
          </p:cNvPr>
          <p:cNvGraphicFramePr>
            <a:graphicFrameLocks noGrp="1"/>
          </p:cNvGraphicFramePr>
          <p:nvPr/>
        </p:nvGraphicFramePr>
        <p:xfrm>
          <a:off x="548640" y="1234440"/>
          <a:ext cx="11179274" cy="4826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1083"/>
                <a:gridCol w="2857027"/>
                <a:gridCol w="3161164"/>
              </a:tblGrid>
              <a:tr h="80438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Short description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Relevance to our project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80438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Fischer and Krauss (2018), “Deep learning with LSTM networks for financial market predictions,” EJOR, 270(2), 654–669.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LSTM prediction of directional movements.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Supports LSTM direction prediction; we add volatility-aware learning-rate control.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0438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Lin et al. (2022), “Forecasting the realized volatility of stock price index: CEEMDAN + LSTM,” ESA, 206, 117736.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CEEMDAN and LSTM forecast realized volatility.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Volatility matters; we use it as a control signal, not the prediction target.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80438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Wang, Shao, and Jumahong (2023), “Fuzzy inference-based LSTM for long-term time series prediction,” Sci. Rep., 13, 20359.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Integrates fuzzy inference with LSTM.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Our fuzzy controller sits outside the predictor and regulates training.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0438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“Guided neural network learning using a fuzzy controller” (1995), Int. Trans. Op. Res., 2(3), 259–272.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Fuzzy-guided learning in simulated textile spinning.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Background for fuzzy learning-rate control; we apply it to market volatility.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804369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Hochreiter and Schmidhuber (1997), “Long short-term memory,” Neural Comp., 9(8), 1735–1780.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Introduces LSTM for long-term dependencies.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Theoretical foundation of our predictor.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Fuzzy-Controlled LSTM  ·  Soft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</a:rPr>
              <a:t>Research Gap and How We Are Addressing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005840" cy="508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440680" cy="3977639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Existing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9377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The reviewed papers cover LSTM financial prediction, volatility forecasting, fuzzy-LSTM integration, and fuzzy control of neural-network learning rates.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Within these papers, we did not identify an approach using an external market-volatility signal to dynamically control an LSTM's learning rate during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40680" cy="3977639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4630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5E2E"/>
                </a:solidFill>
                <a:latin typeface="Calibri"/>
              </a:rPr>
              <a:t>Our Approach</a:t>
            </a:r>
          </a:p>
        </p:txBody>
      </p:sp>
      <p:sp>
        <p:nvSpPr>
          <p:cNvPr id="10" name="Oval 9"/>
          <p:cNvSpPr/>
          <p:nvPr/>
        </p:nvSpPr>
        <p:spPr>
          <a:xfrm>
            <a:off x="6473952" y="2057400"/>
            <a:ext cx="310896" cy="310896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002536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Collect S&amp;P 500 OHLCV data (2015–2026).</a:t>
            </a:r>
          </a:p>
        </p:txBody>
      </p:sp>
      <p:sp>
        <p:nvSpPr>
          <p:cNvPr id="12" name="Oval 11"/>
          <p:cNvSpPr/>
          <p:nvPr/>
        </p:nvSpPr>
        <p:spPr>
          <a:xfrm>
            <a:off x="6473952" y="2587752"/>
            <a:ext cx="310896" cy="310896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53288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Calculate stationary features + 14-day rolling volatility.</a:t>
            </a:r>
          </a:p>
        </p:txBody>
      </p:sp>
      <p:sp>
        <p:nvSpPr>
          <p:cNvPr id="14" name="Oval 13"/>
          <p:cNvSpPr/>
          <p:nvPr/>
        </p:nvSpPr>
        <p:spPr>
          <a:xfrm>
            <a:off x="6473952" y="3118104"/>
            <a:ext cx="310896" cy="310896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06324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Classify volatility into Low / Medium / High fuzzy sets.</a:t>
            </a:r>
          </a:p>
        </p:txBody>
      </p:sp>
      <p:sp>
        <p:nvSpPr>
          <p:cNvPr id="16" name="Oval 15"/>
          <p:cNvSpPr/>
          <p:nvPr/>
        </p:nvSpPr>
        <p:spPr>
          <a:xfrm>
            <a:off x="6473952" y="3648456"/>
            <a:ext cx="310896" cy="310896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593592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Apply interpretable IF–THEN learning-rate rules.</a:t>
            </a:r>
          </a:p>
        </p:txBody>
      </p:sp>
      <p:sp>
        <p:nvSpPr>
          <p:cNvPr id="18" name="Oval 17"/>
          <p:cNvSpPr/>
          <p:nvPr/>
        </p:nvSpPr>
        <p:spPr>
          <a:xfrm>
            <a:off x="6473952" y="4178808"/>
            <a:ext cx="310896" cy="310896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4123944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Integrate the dynamic rate into LSTM training.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4709160"/>
            <a:ext cx="310896" cy="310896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654296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Compare against fixed-rate and control variants (5 seeds).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40680"/>
            <a:ext cx="11091672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1383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45E2E"/>
                </a:solidFill>
                <a:latin typeface="Calibri"/>
              </a:rPr>
              <a:t>Volatility controls training behaviour rather than directly predicting market direction.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Fuzzy-Controlled LSTM  ·  Soft Computing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</a:rPr>
              <a:t>System Architecture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005840" cy="508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7_4.png">
            <a:extLst>
              <a:ext uri="{FF2B5EF4-FFF2-40B4-BE49-F238E27FC236}">
                <a16:creationId xmlns:a16="http://schemas.microsoft.com/office/drawing/2014/main" id="{16079229-0ADE-4595-AADA-45BA8C85D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234440"/>
            <a:ext cx="8507015" cy="50781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Fuzzy-Controlled LSTM  ·  Soft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</a:rPr>
              <a:t>Flow Diagram  —  python main.py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005840" cy="508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8_g_Gemini_Generated_Image_oj8bjwoj8bjwoj8b.png.png">
            <a:extLst>
              <a:ext uri="{FF2B5EF4-FFF2-40B4-BE49-F238E27FC236}">
                <a16:creationId xmlns:a16="http://schemas.microsoft.com/office/drawing/2014/main" id="{48D901D5-7BC0-4AC7-BE28-3FEE9A54F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91672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4748B"/>
                </a:solidFill>
                <a:latin typeface="Calibri"/>
              </a:rPr>
              <a:t>T4 fuzzy gate → data download → features → dataset + T1 check → Mamdani control → regime-aware training (T5/T6) → evaluation → paired statistics.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Fuzzy-Controlled LSTM  ·  Soft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</a:rPr>
              <a:t>Phases (till 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005840" cy="508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670048" cy="4892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23042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3042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Reproducibility and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304288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Fixed Python, NumPy, PyTorch seeds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1 Jan 2015 – 30 Sep 2026 (^GSPC)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Two builds gave identical sums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23560"/>
            <a:ext cx="960120" cy="292608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T1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234440"/>
            <a:ext cx="2670048" cy="4892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417320"/>
            <a:ext cx="23042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1737360"/>
            <a:ext cx="23042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Features and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468880"/>
            <a:ext cx="2304288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return_1d, hl_range, oc_ret,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vol_chg, volatility_14d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Next-day Up/Down labels,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label alignment checked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8728" y="5623560"/>
            <a:ext cx="960120" cy="292608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T2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234440"/>
            <a:ext cx="2670048" cy="4892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417320"/>
            <a:ext cx="23042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737360"/>
            <a:ext cx="23042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Scope, Split and Windows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468880"/>
            <a:ext cx="2304288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S&amp;P 500 (^GSPC)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Chronological 70/15/15 split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Scaling fit on train only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60-day windows × 5 features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1,995 train · 380 val · 381 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5623560"/>
            <a:ext cx="960120" cy="292608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T3 PASS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4" y="1234440"/>
            <a:ext cx="2670048" cy="4892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3144" y="1417320"/>
            <a:ext cx="23042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1737360"/>
            <a:ext cx="23042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Fuzzy Controller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4" y="2468880"/>
            <a:ext cx="2304288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Low/Med/High Ruspini sets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Low vol → higher LR, and reverse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Mamdani: min/max + centroid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201-pt lookup, skfuzzy-checked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53144" y="5623560"/>
            <a:ext cx="960120" cy="292608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T4 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Fuzzy-Controlled LSTM  ·  Soft Computing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</a:rPr>
              <a:t>Intermediate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005840" cy="508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Completed results validate data preparation and the fuzzy controller only. Direction accuracy and training-loss evaluation follow in Phases 5–8.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A.  Dataset Preparation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2CFA22B-3E76-48CE-9284-33EE6EC4FBC1}"/>
              </a:ext>
            </a:extLst>
          </p:cNvPr>
          <p:cNvGraphicFramePr>
            <a:graphicFrameLocks noGrp="1"/>
          </p:cNvGraphicFramePr>
          <p:nvPr/>
        </p:nvGraphicFramePr>
        <p:xfrm>
          <a:off x="548640" y="2331720"/>
          <a:ext cx="5394960" cy="2868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291840"/>
              </a:tblGrid>
              <a:tr h="35859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5859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Reproducibility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PASS · identical sum 217426.6097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859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Features and labels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5859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Training windows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1,995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859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Validation windows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380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5859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Test windows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381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859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Window dimensions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60 days × 5 features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586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Up-day fraction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Train 53.3% · Val 57.1% · Test 55.1%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486400"/>
            <a:ext cx="5394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4748B"/>
                </a:solidFill>
                <a:latin typeface="Calibri"/>
              </a:rPr>
              <a:t>Test has more Up days than train: always-Up scores 55.1%, so accuracy alone is insufficient.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5352" y="19202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5E2E"/>
                </a:solidFill>
                <a:latin typeface="Calibri"/>
              </a:rPr>
              <a:t>B.  Fuzzy Controller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D445E52-6E83-4170-9BA8-A85F8DEC6AAE}"/>
              </a:ext>
            </a:extLst>
          </p:cNvPr>
          <p:cNvGraphicFramePr>
            <a:graphicFrameLocks noGrp="1"/>
          </p:cNvGraphicFramePr>
          <p:nvPr/>
        </p:nvGraphicFramePr>
        <p:xfrm>
          <a:off x="6245352" y="2331720"/>
          <a:ext cx="5394960" cy="2868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  <a:gridCol w="1188720"/>
              </a:tblGrid>
              <a:tr h="478133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Measured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478133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Maximum LR step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1.03 × 10⁻⁵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8133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Mean fuzzy LR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1.00 × 10⁻³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78133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Fixed baseline LR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1.00 × 10⁻³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8133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Monotonicity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Higher vol never raises LR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78121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LR range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Calibri"/>
                        </a:rPr>
                        <a:t>0.4 × 10⁻³ – 1.6 × 10⁻³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45352" y="5486400"/>
            <a:ext cx="5394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4748B"/>
                </a:solidFill>
                <a:latin typeface="Calibri"/>
              </a:rPr>
              <a:t>Mean LR is within 20% of baseline; the Mamdani mapping is smooth, monotone decreasing, Ruspini-exact.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Fuzzy-Controlled LSTM  ·  Soft Computing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